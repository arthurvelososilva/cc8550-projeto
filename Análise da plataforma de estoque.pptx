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3CA4-E231-4938-82F9-74BB3A590BA0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9598-9FC0-47B0-A96B-F9892B4B66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567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3CA4-E231-4938-82F9-74BB3A590BA0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9598-9FC0-47B0-A96B-F9892B4B66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55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3CA4-E231-4938-82F9-74BB3A590BA0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9598-9FC0-47B0-A96B-F9892B4B66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853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3CA4-E231-4938-82F9-74BB3A590BA0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9598-9FC0-47B0-A96B-F9892B4B66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11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3CA4-E231-4938-82F9-74BB3A590BA0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9598-9FC0-47B0-A96B-F9892B4B66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252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3CA4-E231-4938-82F9-74BB3A590BA0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9598-9FC0-47B0-A96B-F9892B4B66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27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3CA4-E231-4938-82F9-74BB3A590BA0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9598-9FC0-47B0-A96B-F9892B4B66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95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3CA4-E231-4938-82F9-74BB3A590BA0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9598-9FC0-47B0-A96B-F9892B4B66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261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3CA4-E231-4938-82F9-74BB3A590BA0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9598-9FC0-47B0-A96B-F9892B4B66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35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3CA4-E231-4938-82F9-74BB3A590BA0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9598-9FC0-47B0-A96B-F9892B4B66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233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3CA4-E231-4938-82F9-74BB3A590BA0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9598-9FC0-47B0-A96B-F9892B4B66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1771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43CA4-E231-4938-82F9-74BB3A590BA0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69598-9FC0-47B0-A96B-F9892B4B66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3936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3AA11B-CBF5-28F8-70D3-51D3915F5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pt-BR" sz="4000" dirty="0">
                <a:solidFill>
                  <a:schemeClr val="bg2"/>
                </a:solidFill>
              </a:rPr>
              <a:t>Análise da plataforma de estoque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10E189-1223-B61E-B00F-0081EA0A2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799"/>
            <a:ext cx="9144000" cy="1230443"/>
          </a:xfrm>
        </p:spPr>
        <p:txBody>
          <a:bodyPr>
            <a:normAutofit/>
          </a:bodyPr>
          <a:lstStyle/>
          <a:p>
            <a:r>
              <a:rPr lang="pt-BR" sz="1800" dirty="0"/>
              <a:t>Alunos: </a:t>
            </a:r>
          </a:p>
          <a:p>
            <a:r>
              <a:rPr lang="pt-BR" sz="1800" dirty="0"/>
              <a:t>Arthur Veloso (22.221.038-7) </a:t>
            </a:r>
          </a:p>
          <a:p>
            <a:r>
              <a:rPr lang="pt-BR" sz="1800" dirty="0" err="1"/>
              <a:t>Cayque</a:t>
            </a:r>
            <a:r>
              <a:rPr lang="pt-BR" sz="1800" dirty="0"/>
              <a:t> Cicarelli (22221005-6)</a:t>
            </a:r>
          </a:p>
        </p:txBody>
      </p:sp>
    </p:spTree>
    <p:extLst>
      <p:ext uri="{BB962C8B-B14F-4D97-AF65-F5344CB8AC3E}">
        <p14:creationId xmlns:p14="http://schemas.microsoft.com/office/powerpoint/2010/main" val="3472331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E67050-9D68-1A8C-5DB3-78E2C20FC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Sistema de estoque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855940-28B3-F2FC-E0E4-D57ECFF9F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94277"/>
            <a:ext cx="12192000" cy="5063723"/>
          </a:xfrm>
        </p:spPr>
        <p:txBody>
          <a:bodyPr anchor="t" anchorCtr="0">
            <a:normAutofit/>
          </a:bodyPr>
          <a:lstStyle/>
          <a:p>
            <a:r>
              <a:rPr lang="pt-BR" sz="2400" b="1" dirty="0"/>
              <a:t>O que faz: </a:t>
            </a:r>
            <a:r>
              <a:rPr lang="pt-BR" sz="2400" dirty="0"/>
              <a:t>O sistema permite gerenciar todo o ciclo de controle de estoque, desde o cadastro de produtos até o acompanhamento de movimentações e geração de relatórios consolidados.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b="1" dirty="0"/>
              <a:t>Regras de negócio:</a:t>
            </a:r>
          </a:p>
          <a:p>
            <a:pPr marL="0" indent="0">
              <a:buNone/>
            </a:pPr>
            <a:r>
              <a:rPr lang="pt-BR" sz="2400" b="1" dirty="0"/>
              <a:t>    * Validação de estoque antes de saída: </a:t>
            </a:r>
            <a:r>
              <a:rPr lang="pt-BR" sz="2400" dirty="0"/>
              <a:t>O sistema impede que uma saída seja registrada se a quantidade disponível do produto for insuficiente. </a:t>
            </a:r>
          </a:p>
          <a:p>
            <a:pPr marL="0" indent="0">
              <a:buNone/>
            </a:pPr>
            <a:r>
              <a:rPr lang="pt-BR" sz="2400" dirty="0"/>
              <a:t>   </a:t>
            </a:r>
            <a:r>
              <a:rPr lang="pt-BR" sz="2400" b="1" dirty="0"/>
              <a:t> * Controle de estoque mínimo: </a:t>
            </a:r>
            <a:r>
              <a:rPr lang="pt-BR" sz="2400" dirty="0"/>
              <a:t>Produtos não podem ter estoque abaixo do limite definido; o sistema pode alertar quando o valor mínimo é atingido.</a:t>
            </a:r>
          </a:p>
          <a:p>
            <a:pPr marL="0" indent="0">
              <a:buNone/>
            </a:pPr>
            <a:r>
              <a:rPr lang="pt-BR" sz="2400" dirty="0"/>
              <a:t>    </a:t>
            </a:r>
            <a:r>
              <a:rPr lang="pt-BR" sz="2400" b="1" dirty="0"/>
              <a:t>* Validação de integridade entre entidades: </a:t>
            </a:r>
            <a:r>
              <a:rPr lang="pt-BR" sz="2400" dirty="0"/>
              <a:t>Um produto só pode ser criado se categoria e fornecedor válidos existirem.</a:t>
            </a:r>
          </a:p>
        </p:txBody>
      </p:sp>
    </p:spTree>
    <p:extLst>
      <p:ext uri="{BB962C8B-B14F-4D97-AF65-F5344CB8AC3E}">
        <p14:creationId xmlns:p14="http://schemas.microsoft.com/office/powerpoint/2010/main" val="204056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C1973-A52F-DE80-4468-B55D5DED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2D46C7-9B88-F122-07FA-B6A245F42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B429E5-F25B-CEB1-19B4-E935D664A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A8C8E3-C73B-A336-4F24-EAF728916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E2D3B8-094C-8CB1-0D85-5D7F42E9B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DAA1C-2BDF-E003-7FB7-DE488E4CF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E96D67-1307-DFF8-07FE-096CA6F6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Sistema de estoque (</a:t>
            </a:r>
            <a:r>
              <a:rPr lang="pt-BR" sz="4000" dirty="0" err="1">
                <a:solidFill>
                  <a:srgbClr val="FFFFFF"/>
                </a:solidFill>
              </a:rPr>
              <a:t>CRUDs</a:t>
            </a:r>
            <a:r>
              <a:rPr lang="pt-BR" sz="4000" dirty="0">
                <a:solidFill>
                  <a:srgbClr val="FFFFFF"/>
                </a:solidFill>
              </a:rPr>
              <a:t>)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A2AEF24-DC5C-BB47-AC4F-07E4EB1FA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071236"/>
              </p:ext>
            </p:extLst>
          </p:nvPr>
        </p:nvGraphicFramePr>
        <p:xfrm>
          <a:off x="668045" y="1636681"/>
          <a:ext cx="11303057" cy="5182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466">
                  <a:extLst>
                    <a:ext uri="{9D8B030D-6E8A-4147-A177-3AD203B41FA5}">
                      <a16:colId xmlns:a16="http://schemas.microsoft.com/office/drawing/2014/main" val="1935360387"/>
                    </a:ext>
                  </a:extLst>
                </a:gridCol>
                <a:gridCol w="2533758">
                  <a:extLst>
                    <a:ext uri="{9D8B030D-6E8A-4147-A177-3AD203B41FA5}">
                      <a16:colId xmlns:a16="http://schemas.microsoft.com/office/drawing/2014/main" val="3933871908"/>
                    </a:ext>
                  </a:extLst>
                </a:gridCol>
                <a:gridCol w="2325668">
                  <a:extLst>
                    <a:ext uri="{9D8B030D-6E8A-4147-A177-3AD203B41FA5}">
                      <a16:colId xmlns:a16="http://schemas.microsoft.com/office/drawing/2014/main" val="2133279452"/>
                    </a:ext>
                  </a:extLst>
                </a:gridCol>
                <a:gridCol w="1944690">
                  <a:extLst>
                    <a:ext uri="{9D8B030D-6E8A-4147-A177-3AD203B41FA5}">
                      <a16:colId xmlns:a16="http://schemas.microsoft.com/office/drawing/2014/main" val="2854630108"/>
                    </a:ext>
                  </a:extLst>
                </a:gridCol>
                <a:gridCol w="1940516">
                  <a:extLst>
                    <a:ext uri="{9D8B030D-6E8A-4147-A177-3AD203B41FA5}">
                      <a16:colId xmlns:a16="http://schemas.microsoft.com/office/drawing/2014/main" val="4274969986"/>
                    </a:ext>
                  </a:extLst>
                </a:gridCol>
                <a:gridCol w="1627959">
                  <a:extLst>
                    <a:ext uri="{9D8B030D-6E8A-4147-A177-3AD203B41FA5}">
                      <a16:colId xmlns:a16="http://schemas.microsoft.com/office/drawing/2014/main" val="4178468154"/>
                    </a:ext>
                  </a:extLst>
                </a:gridCol>
              </a:tblGrid>
              <a:tr h="460253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Produtos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Categorias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Fornecedores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Movimentações</a:t>
                      </a:r>
                    </a:p>
                    <a:p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Usuários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354087"/>
                  </a:ext>
                </a:extLst>
              </a:tr>
              <a:tr h="1249257">
                <a:tc>
                  <a:txBody>
                    <a:bodyPr/>
                    <a:lstStyle/>
                    <a:p>
                      <a:r>
                        <a:rPr lang="pt-BR" b="1" dirty="0" err="1">
                          <a:solidFill>
                            <a:schemeClr val="tx1"/>
                          </a:solidFill>
                        </a:rPr>
                        <a:t>Create</a:t>
                      </a:r>
                      <a:endParaRPr lang="pt-B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Cadastrar produtos com informações completas.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Criar novas categorias de produtos </a:t>
                      </a:r>
                      <a:br>
                        <a:rPr lang="pt-BR" dirty="0">
                          <a:solidFill>
                            <a:schemeClr val="tx1"/>
                          </a:solidFill>
                        </a:rPr>
                      </a:b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pt-BR" dirty="0" err="1">
                          <a:solidFill>
                            <a:schemeClr val="tx1"/>
                          </a:solidFill>
                        </a:rPr>
                        <a:t>ex</a:t>
                      </a: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: “Eletrônicos”, “Alimentos”).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Cadastrar fornecedores com dados básicos.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Registrar entradas e saídas de produtos no estoque.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Cadastrar usuários com dados básicos.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175209"/>
                  </a:ext>
                </a:extLst>
              </a:tr>
              <a:tr h="1052006">
                <a:tc>
                  <a:txBody>
                    <a:bodyPr/>
                    <a:lstStyle/>
                    <a:p>
                      <a:r>
                        <a:rPr lang="pt-BR" b="1" dirty="0" err="1">
                          <a:solidFill>
                            <a:schemeClr val="tx1"/>
                          </a:solidFill>
                        </a:rPr>
                        <a:t>Read</a:t>
                      </a:r>
                      <a:endParaRPr lang="pt-B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Listar produtos com filtros e busca por ID.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Listar todas as categorias </a:t>
                      </a:r>
                      <a:br>
                        <a:rPr lang="pt-BR" dirty="0">
                          <a:solidFill>
                            <a:schemeClr val="tx1"/>
                          </a:solidFill>
                        </a:rPr>
                      </a:b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cadastradas.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Consultar todos os </a:t>
                      </a:r>
                      <a:br>
                        <a:rPr lang="pt-BR" dirty="0">
                          <a:solidFill>
                            <a:schemeClr val="tx1"/>
                          </a:solidFill>
                        </a:rPr>
                      </a:b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fornecedores disponíveis.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Exibir histórico de movimentações com filtros.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Listar usuários e buscar </a:t>
                      </a:r>
                      <a:br>
                        <a:rPr lang="pt-BR" dirty="0">
                          <a:solidFill>
                            <a:schemeClr val="tx1"/>
                          </a:solidFill>
                        </a:rPr>
                      </a:b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por ID.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363289"/>
                  </a:ext>
                </a:extLst>
              </a:tr>
              <a:tr h="1052006"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tx1"/>
                          </a:solidFill>
                        </a:rPr>
                        <a:t>Update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Atualizar informações como preço, </a:t>
                      </a:r>
                      <a:br>
                        <a:rPr lang="pt-BR" dirty="0">
                          <a:solidFill>
                            <a:schemeClr val="tx1"/>
                          </a:solidFill>
                        </a:rPr>
                      </a:b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estoque ou categoria.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Alterar nome ou descrição da </a:t>
                      </a:r>
                      <a:br>
                        <a:rPr lang="pt-BR" dirty="0">
                          <a:solidFill>
                            <a:schemeClr val="tx1"/>
                          </a:solidFill>
                        </a:rPr>
                      </a:b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categoria.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Atualizar dados de contato e </a:t>
                      </a:r>
                      <a:br>
                        <a:rPr lang="pt-BR" dirty="0">
                          <a:solidFill>
                            <a:schemeClr val="tx1"/>
                          </a:solidFill>
                        </a:rPr>
                      </a:b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informações cadastrais.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Ajustar movimentações incorretas.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Atualizar informações </a:t>
                      </a:r>
                      <a:br>
                        <a:rPr lang="pt-BR" dirty="0">
                          <a:solidFill>
                            <a:schemeClr val="tx1"/>
                          </a:solidFill>
                        </a:rPr>
                      </a:b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do usuário.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773266"/>
                  </a:ext>
                </a:extLst>
              </a:tr>
              <a:tr h="1052006"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tx1"/>
                          </a:solidFill>
                        </a:rPr>
                        <a:t>Delete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Remover produto do sistema.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Excluir categorias sem produtos </a:t>
                      </a:r>
                      <a:br>
                        <a:rPr lang="pt-BR" dirty="0">
                          <a:solidFill>
                            <a:schemeClr val="tx1"/>
                          </a:solidFill>
                        </a:rPr>
                      </a:b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vinculados.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Excluir fornecedor sem dependências.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Excluir movimentações </a:t>
                      </a:r>
                      <a:br>
                        <a:rPr lang="pt-BR" dirty="0"/>
                      </a:br>
                      <a:r>
                        <a:rPr lang="pt-BR" dirty="0"/>
                        <a:t>inválidas.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Remover usuário do </a:t>
                      </a:r>
                      <a:br>
                        <a:rPr lang="pt-BR" dirty="0">
                          <a:solidFill>
                            <a:schemeClr val="tx1"/>
                          </a:solidFill>
                        </a:rPr>
                      </a:b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sistema.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621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70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7D33B-98E5-6B7F-375A-262E302B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D916A87-23C5-4C21-3D2D-FDAE86A17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C75284-67E5-5890-67C2-880E0A4B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89FE22-ACBB-84F3-0844-11C229067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52B872-8C2A-991C-42B4-05E486029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292882-C748-ACF6-DC11-4FB765C1E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E8E4A0-9138-786D-C8E1-C764413E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Sistema de estoque (Arquitetura)</a:t>
            </a:r>
          </a:p>
        </p:txBody>
      </p:sp>
      <p:pic>
        <p:nvPicPr>
          <p:cNvPr id="17" name="Espaço Reservado para Conteúdo 16" descr="Tabela&#10;&#10;O conteúdo gerado por IA pode estar incorreto.">
            <a:extLst>
              <a:ext uri="{FF2B5EF4-FFF2-40B4-BE49-F238E27FC236}">
                <a16:creationId xmlns:a16="http://schemas.microsoft.com/office/drawing/2014/main" id="{DC61381D-C18F-35A6-4EAE-4ECEB3C93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023" y="1590741"/>
            <a:ext cx="4768926" cy="5267259"/>
          </a:xfrm>
        </p:spPr>
      </p:pic>
    </p:spTree>
    <p:extLst>
      <p:ext uri="{BB962C8B-B14F-4D97-AF65-F5344CB8AC3E}">
        <p14:creationId xmlns:p14="http://schemas.microsoft.com/office/powerpoint/2010/main" val="407643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E298D-868E-7090-7C6B-E04F0E230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299E26-4B1A-D4BF-1117-30B00CFBB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AB698-7C38-7DDC-E4F8-81253929E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D4821C-B2A5-2752-4F16-30E85183A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F94D15-74C6-56DC-7490-ED27A574E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9C0E82-7F67-C27F-A713-E73475DCF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06892C-70F4-39C2-3557-9BD5FE4F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Demo</a:t>
            </a:r>
          </a:p>
        </p:txBody>
      </p:sp>
      <p:pic>
        <p:nvPicPr>
          <p:cNvPr id="5" name="Design sem nome">
            <a:hlinkClick r:id="" action="ppaction://media"/>
            <a:extLst>
              <a:ext uri="{FF2B5EF4-FFF2-40B4-BE49-F238E27FC236}">
                <a16:creationId xmlns:a16="http://schemas.microsoft.com/office/drawing/2014/main" id="{266719AA-B30F-29F0-4A93-9D54C8C7683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42437" y="1622745"/>
            <a:ext cx="9307121" cy="523525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7EA5E9D-1D4C-43EB-F95C-2757687AD703}"/>
              </a:ext>
            </a:extLst>
          </p:cNvPr>
          <p:cNvSpPr txBox="1"/>
          <p:nvPr/>
        </p:nvSpPr>
        <p:spPr>
          <a:xfrm>
            <a:off x="0" y="6513981"/>
            <a:ext cx="5150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*Apresentação </a:t>
            </a:r>
            <a:r>
              <a:rPr lang="pt-BR" dirty="0" err="1"/>
              <a:t>ppt</a:t>
            </a:r>
            <a:r>
              <a:rPr lang="pt-BR" dirty="0"/>
              <a:t> disponível no </a:t>
            </a:r>
            <a:r>
              <a:rPr lang="pt-BR" dirty="0" err="1"/>
              <a:t>git</a:t>
            </a:r>
            <a:r>
              <a:rPr lang="pt-BR" dirty="0"/>
              <a:t> com vídeo demo</a:t>
            </a:r>
          </a:p>
        </p:txBody>
      </p:sp>
    </p:spTree>
    <p:extLst>
      <p:ext uri="{BB962C8B-B14F-4D97-AF65-F5344CB8AC3E}">
        <p14:creationId xmlns:p14="http://schemas.microsoft.com/office/powerpoint/2010/main" val="414575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7DD3A-DBD3-9FC3-9959-1A9F5EBE5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4DC8F-E96D-3822-A3A4-DA631BA30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1EA24-A9BA-5A90-CFCE-708F25447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7DEEC-9423-3CFD-A0E1-3ED46347F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1D94C0-B92F-163A-6E61-42B9FB3EE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A7588F-813D-C0BA-3B08-5DE7CFE6F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ED7820-336F-0AD6-64F5-A0ABBC69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Testes (Overview)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4CED97E-227F-A353-E3F2-BADE41DC0F25}"/>
              </a:ext>
            </a:extLst>
          </p:cNvPr>
          <p:cNvSpPr txBox="1"/>
          <p:nvPr/>
        </p:nvSpPr>
        <p:spPr>
          <a:xfrm>
            <a:off x="-2" y="1590741"/>
            <a:ext cx="12191998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Objetivos:</a:t>
            </a:r>
          </a:p>
          <a:p>
            <a:endParaRPr lang="pt-BR" b="1" dirty="0"/>
          </a:p>
          <a:p>
            <a:r>
              <a:rPr lang="pt-BR" sz="2400" b="1" dirty="0"/>
              <a:t>Unitários: </a:t>
            </a:r>
            <a:r>
              <a:rPr lang="pt-BR" sz="2400" dirty="0"/>
              <a:t>Validar o funcionamento de pequenas partes isoladas do código (geralmente funções </a:t>
            </a:r>
            <a:br>
              <a:rPr lang="pt-BR" sz="2400" dirty="0"/>
            </a:br>
            <a:r>
              <a:rPr lang="pt-BR" sz="2400" dirty="0"/>
              <a:t>ou métodos). Garante que cada componente faz exatamente o que deveria.</a:t>
            </a:r>
          </a:p>
          <a:p>
            <a:r>
              <a:rPr lang="pt-BR" sz="2400" b="1" dirty="0"/>
              <a:t>Integração: </a:t>
            </a:r>
            <a:r>
              <a:rPr lang="pt-BR" sz="2400" dirty="0"/>
              <a:t>Verificar se os módulos funcionam corretamente juntos, testando a comunicação e </a:t>
            </a:r>
            <a:br>
              <a:rPr lang="pt-BR" sz="2400" dirty="0"/>
            </a:br>
            <a:r>
              <a:rPr lang="pt-BR" sz="2400" dirty="0"/>
              <a:t>dependência entre partes do sistema.</a:t>
            </a:r>
          </a:p>
          <a:p>
            <a:r>
              <a:rPr lang="pt-BR" sz="2400" b="1" dirty="0"/>
              <a:t>Funcionais: </a:t>
            </a:r>
            <a:r>
              <a:rPr lang="pt-BR" sz="2400" dirty="0"/>
              <a:t>Testar se o sistema atende aos requisitos do usuário, validando as funções completas </a:t>
            </a:r>
            <a:br>
              <a:rPr lang="pt-BR" sz="2400" dirty="0"/>
            </a:br>
            <a:r>
              <a:rPr lang="pt-BR" sz="2400" dirty="0"/>
              <a:t>sem se preocupar com a implementação interna.</a:t>
            </a:r>
          </a:p>
          <a:p>
            <a:r>
              <a:rPr lang="pt-BR" sz="2400" b="1" dirty="0"/>
              <a:t>Cobertura: </a:t>
            </a:r>
            <a:r>
              <a:rPr lang="pt-BR" sz="2400" dirty="0"/>
              <a:t>Medir quanto do código foi realmente testado pelos testes automatizados </a:t>
            </a:r>
            <a:br>
              <a:rPr lang="pt-BR" sz="2400" dirty="0"/>
            </a:br>
            <a:r>
              <a:rPr lang="pt-BR" sz="2400" dirty="0"/>
              <a:t>(quantidade de linhas, funções ou </a:t>
            </a:r>
            <a:r>
              <a:rPr lang="pt-BR" sz="2400" dirty="0" err="1"/>
              <a:t>branches</a:t>
            </a:r>
            <a:r>
              <a:rPr lang="pt-BR" sz="2400" dirty="0"/>
              <a:t> executados).</a:t>
            </a:r>
          </a:p>
          <a:p>
            <a:r>
              <a:rPr lang="pt-BR" sz="2400" b="1" dirty="0"/>
              <a:t>Mutação: </a:t>
            </a:r>
            <a:r>
              <a:rPr lang="pt-BR" sz="2400" dirty="0"/>
              <a:t>Avaliar a eficácia dos testes: faz pequenas alterações (mutações) no código e verifica se os testes conseguem detectar esses erros.</a:t>
            </a:r>
          </a:p>
          <a:p>
            <a:r>
              <a:rPr lang="pt-BR" sz="2400" b="1" dirty="0"/>
              <a:t>Específicos: </a:t>
            </a:r>
            <a:r>
              <a:rPr lang="pt-BR" sz="2400" dirty="0"/>
              <a:t>Testes voltados a situações particulares, regras de negócio ou cenários únicos que </a:t>
            </a:r>
            <a:br>
              <a:rPr lang="pt-BR" sz="2400" dirty="0"/>
            </a:br>
            <a:r>
              <a:rPr lang="pt-BR" sz="2400" dirty="0"/>
              <a:t>não se enquadram nas categorias gerais.</a:t>
            </a:r>
          </a:p>
        </p:txBody>
      </p:sp>
    </p:spTree>
    <p:extLst>
      <p:ext uri="{BB962C8B-B14F-4D97-AF65-F5344CB8AC3E}">
        <p14:creationId xmlns:p14="http://schemas.microsoft.com/office/powerpoint/2010/main" val="888319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27F8D-924A-9597-C3C0-F9057176C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18B7789-BA1F-A067-7F37-9BC273608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D22945-DC5C-8BAD-7C16-198E13B1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2603FD-9BB8-28F8-F4E0-85FE6BE1F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C68E4D-3EAE-6F34-95DE-11F4A6F1D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3A174B-0051-9DD1-719B-3E9A18EDD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A67448-6A13-A283-8A57-B4DC1DED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Testes Unitários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DBD85E-E176-A0E6-F40C-8328313E0E1A}"/>
              </a:ext>
            </a:extLst>
          </p:cNvPr>
          <p:cNvSpPr txBox="1"/>
          <p:nvPr/>
        </p:nvSpPr>
        <p:spPr>
          <a:xfrm>
            <a:off x="-5000" y="1885279"/>
            <a:ext cx="345305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Distribuição:</a:t>
            </a:r>
          </a:p>
          <a:p>
            <a:r>
              <a:rPr lang="pt-BR" sz="2400" dirty="0"/>
              <a:t>• models: 19 testes</a:t>
            </a:r>
          </a:p>
          <a:p>
            <a:r>
              <a:rPr lang="pt-BR" sz="2400" dirty="0"/>
              <a:t>• </a:t>
            </a:r>
            <a:r>
              <a:rPr lang="pt-BR" sz="2400" dirty="0" err="1"/>
              <a:t>repositories</a:t>
            </a:r>
            <a:r>
              <a:rPr lang="pt-BR" sz="2400" dirty="0"/>
              <a:t>: 32 testes</a:t>
            </a:r>
          </a:p>
          <a:p>
            <a:r>
              <a:rPr lang="pt-BR" sz="2400" dirty="0"/>
              <a:t>• </a:t>
            </a:r>
            <a:r>
              <a:rPr lang="pt-BR" sz="2400" dirty="0" err="1"/>
              <a:t>services</a:t>
            </a:r>
            <a:r>
              <a:rPr lang="pt-BR" sz="2400" dirty="0"/>
              <a:t>: 6 testes</a:t>
            </a:r>
          </a:p>
          <a:p>
            <a:r>
              <a:rPr lang="pt-BR" sz="2400" dirty="0"/>
              <a:t>• </a:t>
            </a:r>
            <a:r>
              <a:rPr lang="pt-BR" sz="2400" dirty="0" err="1"/>
              <a:t>validators</a:t>
            </a:r>
            <a:r>
              <a:rPr lang="pt-BR" sz="2400" dirty="0"/>
              <a:t>: 23 testes</a:t>
            </a:r>
          </a:p>
          <a:p>
            <a:endParaRPr lang="pt-BR" dirty="0"/>
          </a:p>
          <a:p>
            <a:r>
              <a:rPr lang="pt-BR" sz="2400" b="1" dirty="0"/>
              <a:t>Técnicas:</a:t>
            </a:r>
          </a:p>
          <a:p>
            <a:r>
              <a:rPr lang="pt-BR" sz="2400" dirty="0"/>
              <a:t>✓ </a:t>
            </a:r>
            <a:r>
              <a:rPr lang="pt-BR" sz="2400" dirty="0" err="1"/>
              <a:t>Mocks</a:t>
            </a:r>
            <a:endParaRPr lang="pt-BR" sz="2400" dirty="0"/>
          </a:p>
          <a:p>
            <a:endParaRPr lang="pt-BR" sz="2400" dirty="0"/>
          </a:p>
          <a:p>
            <a:r>
              <a:rPr lang="pt-BR" sz="2400" b="1" dirty="0"/>
              <a:t>Resultado:</a:t>
            </a:r>
          </a:p>
          <a:p>
            <a:r>
              <a:rPr lang="pt-BR" sz="2400" dirty="0"/>
              <a:t>✓ 80/80 executados </a:t>
            </a:r>
            <a:br>
              <a:rPr lang="pt-BR" sz="2400" dirty="0"/>
            </a:br>
            <a:r>
              <a:rPr lang="pt-BR" sz="2400" dirty="0"/>
              <a:t>(tempo estimado: ~3.56 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2B142E-49CE-0BE1-955E-8307F2C09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218" y="4052954"/>
            <a:ext cx="5554778" cy="280384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F134665-60CB-0634-E2E6-527DF8C455F3}"/>
              </a:ext>
            </a:extLst>
          </p:cNvPr>
          <p:cNvSpPr txBox="1"/>
          <p:nvPr/>
        </p:nvSpPr>
        <p:spPr>
          <a:xfrm>
            <a:off x="6637218" y="1590741"/>
            <a:ext cx="5614743" cy="2462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100" b="1" dirty="0"/>
              <a:t>Teste parametrizado:</a:t>
            </a:r>
            <a:endParaRPr lang="pt-BR" sz="1100" dirty="0"/>
          </a:p>
          <a:p>
            <a:r>
              <a:rPr lang="pt-BR" sz="1100" dirty="0"/>
              <a:t>@pytest.mark.parametrize(</a:t>
            </a:r>
          </a:p>
          <a:p>
            <a:r>
              <a:rPr lang="pt-BR" sz="1100" dirty="0"/>
              <a:t>    "</a:t>
            </a:r>
            <a:r>
              <a:rPr lang="pt-BR" sz="1100" dirty="0" err="1"/>
              <a:t>email,resultado_esperado</a:t>
            </a:r>
            <a:r>
              <a:rPr lang="pt-BR" sz="1100" dirty="0"/>
              <a:t>",</a:t>
            </a:r>
          </a:p>
          <a:p>
            <a:r>
              <a:rPr lang="pt-BR" sz="1100" dirty="0"/>
              <a:t>    [</a:t>
            </a:r>
          </a:p>
          <a:p>
            <a:r>
              <a:rPr lang="pt-BR" sz="1100" dirty="0"/>
              <a:t>        ("usuario@dominio.com", </a:t>
            </a:r>
            <a:r>
              <a:rPr lang="pt-BR" sz="1100" dirty="0" err="1"/>
              <a:t>True</a:t>
            </a:r>
            <a:r>
              <a:rPr lang="pt-BR" sz="1100" dirty="0"/>
              <a:t>),</a:t>
            </a:r>
          </a:p>
          <a:p>
            <a:r>
              <a:rPr lang="pt-BR" sz="1100" dirty="0"/>
              <a:t>        ("</a:t>
            </a:r>
            <a:r>
              <a:rPr lang="pt-BR" sz="1100" dirty="0" err="1"/>
              <a:t>usuario</a:t>
            </a:r>
            <a:r>
              <a:rPr lang="pt-BR" sz="1100" dirty="0"/>
              <a:t>@", False),</a:t>
            </a:r>
          </a:p>
          <a:p>
            <a:r>
              <a:rPr lang="pt-BR" sz="1100" dirty="0"/>
              <a:t>        ("@dominio.com", False),</a:t>
            </a:r>
          </a:p>
          <a:p>
            <a:r>
              <a:rPr lang="pt-BR" sz="1100" dirty="0"/>
              <a:t>        ("</a:t>
            </a:r>
            <a:r>
              <a:rPr lang="pt-BR" sz="1100" dirty="0" err="1"/>
              <a:t>usuario@dominio</a:t>
            </a:r>
            <a:r>
              <a:rPr lang="pt-BR" sz="1100" dirty="0"/>
              <a:t>", False),</a:t>
            </a:r>
          </a:p>
          <a:p>
            <a:r>
              <a:rPr lang="pt-BR" sz="1100" dirty="0"/>
              <a:t>        ("user.name@empresa.com.br", </a:t>
            </a:r>
            <a:r>
              <a:rPr lang="pt-BR" sz="1100" dirty="0" err="1"/>
              <a:t>True</a:t>
            </a:r>
            <a:r>
              <a:rPr lang="pt-BR" sz="1100" dirty="0"/>
              <a:t>),</a:t>
            </a:r>
          </a:p>
          <a:p>
            <a:r>
              <a:rPr lang="pt-BR" sz="1100" dirty="0"/>
              <a:t>    ],</a:t>
            </a:r>
          </a:p>
          <a:p>
            <a:r>
              <a:rPr lang="pt-BR" sz="1100" dirty="0"/>
              <a:t>)</a:t>
            </a:r>
          </a:p>
          <a:p>
            <a:r>
              <a:rPr lang="pt-BR" sz="1100" dirty="0" err="1"/>
              <a:t>def</a:t>
            </a:r>
            <a:r>
              <a:rPr lang="pt-BR" sz="1100" dirty="0"/>
              <a:t> </a:t>
            </a:r>
            <a:r>
              <a:rPr lang="pt-BR" sz="1100" dirty="0" err="1"/>
              <a:t>test_validar_email</a:t>
            </a:r>
            <a:r>
              <a:rPr lang="pt-BR" sz="1100" dirty="0"/>
              <a:t>(</a:t>
            </a:r>
            <a:r>
              <a:rPr lang="pt-BR" sz="1100" dirty="0" err="1"/>
              <a:t>email</a:t>
            </a:r>
            <a:r>
              <a:rPr lang="pt-BR" sz="1100" dirty="0"/>
              <a:t>, </a:t>
            </a:r>
            <a:r>
              <a:rPr lang="pt-BR" sz="1100" dirty="0" err="1"/>
              <a:t>resultado_esperado</a:t>
            </a:r>
            <a:r>
              <a:rPr lang="pt-BR" sz="1100" dirty="0"/>
              <a:t>):</a:t>
            </a:r>
          </a:p>
          <a:p>
            <a:r>
              <a:rPr lang="pt-BR" sz="1100" dirty="0"/>
              <a:t>    """Teste parametrizado para validar diferentes formatos de e-mail."""</a:t>
            </a:r>
          </a:p>
          <a:p>
            <a:r>
              <a:rPr lang="pt-BR" sz="1100" dirty="0"/>
              <a:t>    </a:t>
            </a:r>
            <a:r>
              <a:rPr lang="pt-BR" sz="1100" dirty="0" err="1"/>
              <a:t>assert</a:t>
            </a:r>
            <a:r>
              <a:rPr lang="pt-BR" sz="1100" dirty="0"/>
              <a:t> </a:t>
            </a:r>
            <a:r>
              <a:rPr lang="pt-BR" sz="1100" dirty="0" err="1"/>
              <a:t>validar_email</a:t>
            </a:r>
            <a:r>
              <a:rPr lang="pt-BR" sz="1100" dirty="0"/>
              <a:t>(</a:t>
            </a:r>
            <a:r>
              <a:rPr lang="pt-BR" sz="1100" dirty="0" err="1"/>
              <a:t>email</a:t>
            </a:r>
            <a:r>
              <a:rPr lang="pt-BR" sz="1100" dirty="0"/>
              <a:t>) == </a:t>
            </a:r>
            <a:r>
              <a:rPr lang="pt-BR" sz="1100" dirty="0" err="1"/>
              <a:t>resultado_esperado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104170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E193D7-3783-6102-73B1-6D4A29579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8517221-9C14-5939-8511-0CE795DE3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A9DCA-DB16-5FF8-52D9-652ADD114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9D9650-1115-5B41-6326-FAE9AB237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927311-F9B4-7B89-29FE-E2903562B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60B447-C392-7BD4-E34B-92E8FC7A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CAA6DF-6929-7C92-D413-5AF7EFB22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Testes de Integração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BCB4748-8687-5AB6-32AF-C76DB450F573}"/>
              </a:ext>
            </a:extLst>
          </p:cNvPr>
          <p:cNvSpPr txBox="1"/>
          <p:nvPr/>
        </p:nvSpPr>
        <p:spPr>
          <a:xfrm>
            <a:off x="0" y="1661137"/>
            <a:ext cx="830964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O que foi integrado: </a:t>
            </a:r>
            <a:r>
              <a:rPr lang="pt-BR" sz="2400" dirty="0"/>
              <a:t>Service + </a:t>
            </a:r>
            <a:r>
              <a:rPr lang="pt-BR" sz="2400" dirty="0" err="1"/>
              <a:t>Repository</a:t>
            </a:r>
            <a:r>
              <a:rPr lang="pt-BR" sz="2400" dirty="0"/>
              <a:t> + Banco de Dados (DB).</a:t>
            </a:r>
          </a:p>
          <a:p>
            <a:endParaRPr lang="pt-BR" sz="2400" dirty="0"/>
          </a:p>
          <a:p>
            <a:r>
              <a:rPr lang="pt-BR" sz="2400" b="1" dirty="0"/>
              <a:t>Técnicas usadas: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/>
              <a:t>Fixtures</a:t>
            </a:r>
            <a:r>
              <a:rPr lang="pt-BR" sz="2400" dirty="0"/>
              <a:t>: Configuração e limpeza automática </a:t>
            </a:r>
            <a:br>
              <a:rPr lang="pt-BR" sz="2400" dirty="0"/>
            </a:br>
            <a:r>
              <a:rPr lang="pt-BR" sz="2400" dirty="0"/>
              <a:t>do banco de testes.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 </a:t>
            </a:r>
            <a:r>
              <a:rPr lang="pt-BR" sz="2400" dirty="0" err="1"/>
              <a:t>Rollback</a:t>
            </a:r>
            <a:r>
              <a:rPr lang="pt-BR" sz="2400" dirty="0"/>
              <a:t>: Desfaz alterações no banco após </a:t>
            </a:r>
            <a:br>
              <a:rPr lang="pt-BR" sz="2400" dirty="0"/>
            </a:br>
            <a:r>
              <a:rPr lang="pt-BR" sz="2400" dirty="0"/>
              <a:t>cada teste, garantindo isolamento.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7C914B8-6873-2B64-1159-214A7A10F6EA}"/>
              </a:ext>
            </a:extLst>
          </p:cNvPr>
          <p:cNvSpPr txBox="1"/>
          <p:nvPr/>
        </p:nvSpPr>
        <p:spPr>
          <a:xfrm>
            <a:off x="6229595" y="2456795"/>
            <a:ext cx="5962401" cy="440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400" b="1" dirty="0"/>
              <a:t>Exemplo de teste completo:</a:t>
            </a:r>
          </a:p>
          <a:p>
            <a:r>
              <a:rPr lang="pt-BR" sz="1400" dirty="0"/>
              <a:t>@pytest.fixture</a:t>
            </a:r>
          </a:p>
          <a:p>
            <a:r>
              <a:rPr lang="pt-BR" sz="1400" dirty="0" err="1"/>
              <a:t>def</a:t>
            </a:r>
            <a:r>
              <a:rPr lang="pt-BR" sz="1400" dirty="0"/>
              <a:t> </a:t>
            </a:r>
            <a:r>
              <a:rPr lang="pt-BR" sz="1400" dirty="0" err="1"/>
              <a:t>produto_base</a:t>
            </a:r>
            <a:r>
              <a:rPr lang="pt-BR" sz="1400" dirty="0"/>
              <a:t>(</a:t>
            </a:r>
            <a:r>
              <a:rPr lang="pt-BR" sz="1400" dirty="0" err="1"/>
              <a:t>db_session</a:t>
            </a:r>
            <a:r>
              <a:rPr lang="pt-BR" sz="1400" dirty="0"/>
              <a:t>):</a:t>
            </a:r>
          </a:p>
          <a:p>
            <a:r>
              <a:rPr lang="pt-BR" sz="1400" dirty="0"/>
              <a:t>    # Cria produto inicial no banco temporário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repo</a:t>
            </a:r>
            <a:r>
              <a:rPr lang="pt-BR" sz="1400" dirty="0"/>
              <a:t> = </a:t>
            </a:r>
            <a:r>
              <a:rPr lang="pt-BR" sz="1400" dirty="0" err="1"/>
              <a:t>ProdutoRepository</a:t>
            </a:r>
            <a:r>
              <a:rPr lang="pt-BR" sz="1400" dirty="0"/>
              <a:t>(</a:t>
            </a:r>
            <a:r>
              <a:rPr lang="pt-BR" sz="1400" dirty="0" err="1"/>
              <a:t>db_session</a:t>
            </a:r>
            <a:r>
              <a:rPr lang="pt-BR" sz="1400" dirty="0"/>
              <a:t>)</a:t>
            </a:r>
          </a:p>
          <a:p>
            <a:r>
              <a:rPr lang="pt-BR" sz="1400" dirty="0"/>
              <a:t>    produto = </a:t>
            </a:r>
            <a:r>
              <a:rPr lang="pt-BR" sz="1400" dirty="0" err="1"/>
              <a:t>repo.criar</a:t>
            </a:r>
            <a:r>
              <a:rPr lang="pt-BR" sz="1400" dirty="0"/>
              <a:t>({"nome": "Notebook", "</a:t>
            </a:r>
            <a:r>
              <a:rPr lang="pt-BR" sz="1400" dirty="0" err="1"/>
              <a:t>preco</a:t>
            </a:r>
            <a:r>
              <a:rPr lang="pt-BR" sz="1400" dirty="0"/>
              <a:t>": 5000})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yield</a:t>
            </a:r>
            <a:r>
              <a:rPr lang="pt-BR" sz="1400" dirty="0"/>
              <a:t> produto</a:t>
            </a:r>
          </a:p>
          <a:p>
            <a:r>
              <a:rPr lang="pt-BR" sz="1400" dirty="0"/>
              <a:t>    # </a:t>
            </a:r>
            <a:r>
              <a:rPr lang="pt-BR" sz="1400" dirty="0" err="1"/>
              <a:t>Rollback</a:t>
            </a:r>
            <a:r>
              <a:rPr lang="pt-BR" sz="1400" dirty="0"/>
              <a:t> automático após o teste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db_session.rollback</a:t>
            </a:r>
            <a:r>
              <a:rPr lang="pt-BR" sz="1400" dirty="0"/>
              <a:t>()</a:t>
            </a:r>
          </a:p>
          <a:p>
            <a:endParaRPr lang="pt-BR" sz="1400" dirty="0"/>
          </a:p>
          <a:p>
            <a:r>
              <a:rPr lang="pt-BR" sz="1400" dirty="0" err="1"/>
              <a:t>def</a:t>
            </a:r>
            <a:r>
              <a:rPr lang="pt-BR" sz="1400" dirty="0"/>
              <a:t> </a:t>
            </a:r>
            <a:r>
              <a:rPr lang="pt-BR" sz="1400" dirty="0" err="1"/>
              <a:t>test_criar_produto_integra_service_repository</a:t>
            </a:r>
            <a:r>
              <a:rPr lang="pt-BR" sz="1400" dirty="0"/>
              <a:t>(</a:t>
            </a:r>
            <a:r>
              <a:rPr lang="pt-BR" sz="1400" dirty="0" err="1"/>
              <a:t>produto_base</a:t>
            </a:r>
            <a:r>
              <a:rPr lang="pt-BR" sz="1400" dirty="0"/>
              <a:t>, </a:t>
            </a:r>
            <a:r>
              <a:rPr lang="pt-BR" sz="1400" dirty="0" err="1"/>
              <a:t>db_session</a:t>
            </a:r>
            <a:r>
              <a:rPr lang="pt-BR" sz="1400" dirty="0"/>
              <a:t>):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service</a:t>
            </a:r>
            <a:r>
              <a:rPr lang="pt-BR" sz="1400" dirty="0"/>
              <a:t> = </a:t>
            </a:r>
            <a:r>
              <a:rPr lang="pt-BR" sz="1400" dirty="0" err="1"/>
              <a:t>ProdutoService</a:t>
            </a:r>
            <a:r>
              <a:rPr lang="pt-BR" sz="1400" dirty="0"/>
              <a:t>(</a:t>
            </a:r>
            <a:r>
              <a:rPr lang="pt-BR" sz="1400" dirty="0" err="1"/>
              <a:t>ProdutoRepository</a:t>
            </a:r>
            <a:r>
              <a:rPr lang="pt-BR" sz="1400" dirty="0"/>
              <a:t>(</a:t>
            </a:r>
            <a:r>
              <a:rPr lang="pt-BR" sz="1400" dirty="0" err="1"/>
              <a:t>db_session</a:t>
            </a:r>
            <a:r>
              <a:rPr lang="pt-BR" sz="1400" dirty="0"/>
              <a:t>))</a:t>
            </a:r>
          </a:p>
          <a:p>
            <a:r>
              <a:rPr lang="pt-BR" sz="1400" dirty="0"/>
              <a:t>    </a:t>
            </a:r>
          </a:p>
          <a:p>
            <a:r>
              <a:rPr lang="pt-BR" sz="1400" dirty="0"/>
              <a:t>    novo = {"nome": "Monitor", "</a:t>
            </a:r>
            <a:r>
              <a:rPr lang="pt-BR" sz="1400" dirty="0" err="1"/>
              <a:t>preco</a:t>
            </a:r>
            <a:r>
              <a:rPr lang="pt-BR" sz="1400" dirty="0"/>
              <a:t>": 800}</a:t>
            </a:r>
          </a:p>
          <a:p>
            <a:r>
              <a:rPr lang="pt-BR" sz="1400" dirty="0"/>
              <a:t>    criado = </a:t>
            </a:r>
            <a:r>
              <a:rPr lang="pt-BR" sz="1400" dirty="0" err="1"/>
              <a:t>service.criar_produto</a:t>
            </a:r>
            <a:r>
              <a:rPr lang="pt-BR" sz="1400" dirty="0"/>
              <a:t>(novo)</a:t>
            </a:r>
          </a:p>
          <a:p>
            <a:endParaRPr lang="pt-BR" sz="1400" dirty="0"/>
          </a:p>
          <a:p>
            <a:r>
              <a:rPr lang="pt-BR" sz="1400" dirty="0"/>
              <a:t>    # Valida persistência real no banco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assert</a:t>
            </a:r>
            <a:r>
              <a:rPr lang="pt-BR" sz="1400" dirty="0"/>
              <a:t> criado.id </a:t>
            </a:r>
            <a:r>
              <a:rPr lang="pt-BR" sz="1400" dirty="0" err="1"/>
              <a:t>is</a:t>
            </a:r>
            <a:r>
              <a:rPr lang="pt-BR" sz="1400" dirty="0"/>
              <a:t> </a:t>
            </a:r>
            <a:r>
              <a:rPr lang="pt-BR" sz="1400" dirty="0" err="1"/>
              <a:t>not</a:t>
            </a:r>
            <a:r>
              <a:rPr lang="pt-BR" sz="1400" dirty="0"/>
              <a:t> </a:t>
            </a:r>
            <a:r>
              <a:rPr lang="pt-BR" sz="1400" dirty="0" err="1"/>
              <a:t>None</a:t>
            </a:r>
            <a:endParaRPr lang="pt-BR" sz="1400" dirty="0"/>
          </a:p>
          <a:p>
            <a:r>
              <a:rPr lang="pt-BR" sz="1400" dirty="0"/>
              <a:t>    </a:t>
            </a:r>
            <a:r>
              <a:rPr lang="pt-BR" sz="1400" dirty="0" err="1"/>
              <a:t>assert</a:t>
            </a:r>
            <a:r>
              <a:rPr lang="pt-BR" sz="1400" dirty="0"/>
              <a:t> </a:t>
            </a:r>
            <a:r>
              <a:rPr lang="pt-BR" sz="1400" dirty="0" err="1"/>
              <a:t>criado.nome</a:t>
            </a:r>
            <a:r>
              <a:rPr lang="pt-BR" sz="1400" dirty="0"/>
              <a:t> == "Monitor"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assert</a:t>
            </a:r>
            <a:r>
              <a:rPr lang="pt-BR" sz="1400" dirty="0"/>
              <a:t> </a:t>
            </a:r>
            <a:r>
              <a:rPr lang="pt-BR" sz="1400" dirty="0" err="1"/>
              <a:t>ProdutoRepository</a:t>
            </a:r>
            <a:r>
              <a:rPr lang="pt-BR" sz="1400" dirty="0"/>
              <a:t>(</a:t>
            </a:r>
            <a:r>
              <a:rPr lang="pt-BR" sz="1400" dirty="0" err="1"/>
              <a:t>db_session</a:t>
            </a:r>
            <a:r>
              <a:rPr lang="pt-BR" sz="1400" dirty="0"/>
              <a:t>).</a:t>
            </a:r>
            <a:r>
              <a:rPr lang="pt-BR" sz="1400" dirty="0" err="1"/>
              <a:t>buscar_por_id</a:t>
            </a:r>
            <a:r>
              <a:rPr lang="pt-BR" sz="1400" dirty="0"/>
              <a:t>(criado.id) </a:t>
            </a:r>
            <a:r>
              <a:rPr lang="pt-BR" sz="1400" dirty="0" err="1"/>
              <a:t>is</a:t>
            </a:r>
            <a:r>
              <a:rPr lang="pt-BR" sz="1400" dirty="0"/>
              <a:t> </a:t>
            </a:r>
            <a:r>
              <a:rPr lang="pt-BR" sz="1400" dirty="0" err="1"/>
              <a:t>not</a:t>
            </a:r>
            <a:r>
              <a:rPr lang="pt-BR" sz="1400" dirty="0"/>
              <a:t> </a:t>
            </a:r>
            <a:r>
              <a:rPr lang="pt-BR" sz="1400" dirty="0" err="1"/>
              <a:t>None</a:t>
            </a:r>
            <a:endParaRPr lang="pt-BR" sz="1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FFB1DE6-4E3F-09E7-B0B4-F8D0AAC1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" y="4352974"/>
            <a:ext cx="6096004" cy="250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56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C5D48-96F2-C11C-49D8-7DC7711F2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4D0D7A-843E-EBAA-567B-ECE1EDBEF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6D743E-841F-0F4A-BE95-82B33A85D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4E6CDD-4189-8DD1-CD7F-F38B1803E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8B71F5-94CF-E9C4-5D95-DD8B51B8B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D9FBC0-BAC3-F76B-E709-91F83B227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67CEBF-3DE3-E6B1-B97C-DA1A7883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Testes de Funcionais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2C8B36C-6507-8DDE-B45E-1FAD304A29E2}"/>
              </a:ext>
            </a:extLst>
          </p:cNvPr>
          <p:cNvSpPr txBox="1"/>
          <p:nvPr/>
        </p:nvSpPr>
        <p:spPr>
          <a:xfrm>
            <a:off x="-3" y="1622745"/>
            <a:ext cx="381000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Regras de negócio testadas: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 </a:t>
            </a:r>
            <a:r>
              <a:rPr lang="pt-BR" b="1" dirty="0"/>
              <a:t>Validação de estoque antes de saída: </a:t>
            </a:r>
            <a:r>
              <a:rPr lang="pt-BR" dirty="0"/>
              <a:t>O sistema bloqueia saídas quando a quantidade disponível é insuficiente.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 </a:t>
            </a:r>
            <a:r>
              <a:rPr lang="pt-BR" b="1" dirty="0"/>
              <a:t>Controle de estoque mínimo: </a:t>
            </a:r>
            <a:r>
              <a:rPr lang="pt-BR" dirty="0"/>
              <a:t>Impede que produtos fiquem abaixo do limite definido e gera alerta quando o mínimo é atingido.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Validação de integridade entre entidades: </a:t>
            </a:r>
            <a:r>
              <a:rPr lang="pt-BR" dirty="0"/>
              <a:t>Garante que um produto só seja criado quando há categoria e fornecedor válidos.</a:t>
            </a:r>
          </a:p>
          <a:p>
            <a:endParaRPr lang="pt-BR" dirty="0"/>
          </a:p>
          <a:p>
            <a:r>
              <a:rPr lang="pt-BR" b="1" dirty="0"/>
              <a:t>Abordagem caixa-preta: </a:t>
            </a:r>
            <a:br>
              <a:rPr lang="pt-BR" dirty="0"/>
            </a:br>
            <a:r>
              <a:rPr lang="pt-BR" dirty="0"/>
              <a:t>Avaliam se as regras de negócio de estoque e integridade de dados são respeitadas em diferentes cenários de uso.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19CDFEE-FDCF-C59E-5CC4-A4A6A67A7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923003"/>
              </p:ext>
            </p:extLst>
          </p:nvPr>
        </p:nvGraphicFramePr>
        <p:xfrm>
          <a:off x="3810000" y="1622743"/>
          <a:ext cx="8382001" cy="275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960">
                  <a:extLst>
                    <a:ext uri="{9D8B030D-6E8A-4147-A177-3AD203B41FA5}">
                      <a16:colId xmlns:a16="http://schemas.microsoft.com/office/drawing/2014/main" val="20806173"/>
                    </a:ext>
                  </a:extLst>
                </a:gridCol>
                <a:gridCol w="2151978">
                  <a:extLst>
                    <a:ext uri="{9D8B030D-6E8A-4147-A177-3AD203B41FA5}">
                      <a16:colId xmlns:a16="http://schemas.microsoft.com/office/drawing/2014/main" val="587339569"/>
                    </a:ext>
                  </a:extLst>
                </a:gridCol>
                <a:gridCol w="1882021">
                  <a:extLst>
                    <a:ext uri="{9D8B030D-6E8A-4147-A177-3AD203B41FA5}">
                      <a16:colId xmlns:a16="http://schemas.microsoft.com/office/drawing/2014/main" val="423101703"/>
                    </a:ext>
                  </a:extLst>
                </a:gridCol>
                <a:gridCol w="1882021">
                  <a:extLst>
                    <a:ext uri="{9D8B030D-6E8A-4147-A177-3AD203B41FA5}">
                      <a16:colId xmlns:a16="http://schemas.microsoft.com/office/drawing/2014/main" val="3162549365"/>
                    </a:ext>
                  </a:extLst>
                </a:gridCol>
                <a:gridCol w="1882021">
                  <a:extLst>
                    <a:ext uri="{9D8B030D-6E8A-4147-A177-3AD203B41FA5}">
                      <a16:colId xmlns:a16="http://schemas.microsoft.com/office/drawing/2014/main" val="35967122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Cenário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Resultado Esperado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050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/>
                        <a:t>F01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Saída com estoque insuficiente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Produto A (2 un.)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Registrar saída de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Operação bloqueada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071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/>
                        <a:t>F02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Estoque abaixo do mínimo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Produto B (limite 5, atual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Atualizar estoque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Bloqueio de operação/alerta crítico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0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/>
                        <a:t>F03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Criação de produto com categoria e </a:t>
                      </a:r>
                      <a:br>
                        <a:rPr lang="pt-BR" sz="1200" dirty="0"/>
                      </a:br>
                      <a:r>
                        <a:rPr lang="pt-BR" sz="1200" dirty="0"/>
                        <a:t>fornecedor válidos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Categoria “Eletrônicos”, Fornecedor “ABC Ltda”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Cadastrar 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Produto criado com sucesso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1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/>
                        <a:t>F04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Criação de produto sem 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Fornecedor válido, categoria ausente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Cadastrar 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 Erro: categoria inexistente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790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/>
                        <a:t>F05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Criação de produto sem fornecedor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Categoria válida, fornecedor ausente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Cadastrar 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Erro: fornecedor inválido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394508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E77C90F2-D0E6-8FE8-5A22-8E4D7CCCE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4839398"/>
            <a:ext cx="8381996" cy="201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7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821752-EE7A-C9B2-F2D9-5D5D7DDF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E70E0A3-626B-6A92-EE96-A88F40350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6838CF-3B1B-2247-D116-FDBF9C6B2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74AE42-9E7E-BC8E-581B-67F11ACB2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68C8B3-012E-7F18-E524-10704E006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1D9153-8E5C-45B9-6D8C-81E81EBE9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163DFE-8CF4-92F7-3E13-E30A0BA3A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Testes de Cobertura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BE4F987-1652-FD6D-ECEA-F316D3726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58" y="1885279"/>
            <a:ext cx="9816684" cy="435643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EB6608CC-8FA8-1795-30E6-67C631AA83D6}"/>
              </a:ext>
            </a:extLst>
          </p:cNvPr>
          <p:cNvSpPr txBox="1"/>
          <p:nvPr/>
        </p:nvSpPr>
        <p:spPr>
          <a:xfrm>
            <a:off x="4517938" y="6298723"/>
            <a:ext cx="3156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Meta de 80% superada!</a:t>
            </a:r>
          </a:p>
        </p:txBody>
      </p:sp>
    </p:spTree>
    <p:extLst>
      <p:ext uri="{BB962C8B-B14F-4D97-AF65-F5344CB8AC3E}">
        <p14:creationId xmlns:p14="http://schemas.microsoft.com/office/powerpoint/2010/main" val="3684200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87FE0-CBBF-A5C6-71B7-F2BD70D5D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574459-AAF8-C597-2E1F-4058E59D3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B8B8FF-B8C6-78FF-1FA8-A2C4CCC3A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CDFDF4-48EF-A34C-C202-E3DA32E44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EC42EC-7F47-C15F-62F2-EBF820364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6F395-3B22-70FE-55FB-1AF1B7B2C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444F8C-746D-B437-4789-F507891E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Testes de Específicos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8DC5204-506E-625B-A4B9-94CAFBE82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540920"/>
              </p:ext>
            </p:extLst>
          </p:nvPr>
        </p:nvGraphicFramePr>
        <p:xfrm>
          <a:off x="609599" y="2134076"/>
          <a:ext cx="443985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5910">
                  <a:extLst>
                    <a:ext uri="{9D8B030D-6E8A-4147-A177-3AD203B41FA5}">
                      <a16:colId xmlns:a16="http://schemas.microsoft.com/office/drawing/2014/main" val="606678612"/>
                    </a:ext>
                  </a:extLst>
                </a:gridCol>
                <a:gridCol w="1353947">
                  <a:extLst>
                    <a:ext uri="{9D8B030D-6E8A-4147-A177-3AD203B41FA5}">
                      <a16:colId xmlns:a16="http://schemas.microsoft.com/office/drawing/2014/main" val="2819737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Tipo de Teste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Quantidade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677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Teste de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881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Teste de consistência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80454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CDE955E4-D470-3C7E-A269-F665435A609F}"/>
              </a:ext>
            </a:extLst>
          </p:cNvPr>
          <p:cNvSpPr txBox="1"/>
          <p:nvPr/>
        </p:nvSpPr>
        <p:spPr>
          <a:xfrm>
            <a:off x="6319574" y="1951672"/>
            <a:ext cx="546181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b="1" dirty="0"/>
              <a:t>Exemplo de teste:</a:t>
            </a:r>
          </a:p>
          <a:p>
            <a:r>
              <a:rPr lang="pt-BR" dirty="0" err="1"/>
              <a:t>def</a:t>
            </a:r>
            <a:r>
              <a:rPr lang="pt-BR" dirty="0"/>
              <a:t> </a:t>
            </a:r>
            <a:r>
              <a:rPr lang="pt-BR" dirty="0" err="1"/>
              <a:t>test_consistencia_saldo</a:t>
            </a:r>
            <a:r>
              <a:rPr lang="pt-BR" dirty="0"/>
              <a:t>(cliente):</a:t>
            </a:r>
          </a:p>
          <a:p>
            <a:r>
              <a:rPr lang="pt-BR" dirty="0"/>
              <a:t>    resultado = </a:t>
            </a:r>
            <a:r>
              <a:rPr lang="pt-BR" dirty="0" err="1"/>
              <a:t>cliente.calcular_saldo</a:t>
            </a:r>
            <a:r>
              <a:rPr lang="pt-BR" dirty="0"/>
              <a:t>()</a:t>
            </a:r>
          </a:p>
          <a:p>
            <a:r>
              <a:rPr lang="pt-BR" dirty="0"/>
              <a:t>    </a:t>
            </a:r>
            <a:r>
              <a:rPr lang="pt-BR" dirty="0" err="1"/>
              <a:t>assert</a:t>
            </a:r>
            <a:r>
              <a:rPr lang="pt-BR" dirty="0"/>
              <a:t> resultado &gt;= 0, "Saldo inconsistente detectado"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7B0A65F-F177-4361-576C-A8B462312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8" y="3664697"/>
            <a:ext cx="9906000" cy="316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267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371</TotalTime>
  <Words>1084</Words>
  <Application>Microsoft Office PowerPoint</Application>
  <PresentationFormat>Widescreen</PresentationFormat>
  <Paragraphs>155</Paragraphs>
  <Slides>11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 2013 - 2022</vt:lpstr>
      <vt:lpstr>Análise da plataforma de estoque</vt:lpstr>
      <vt:lpstr>Sistema de estoque</vt:lpstr>
      <vt:lpstr>Sistema de estoque (CRUDs)</vt:lpstr>
      <vt:lpstr>Sistema de estoque (Arquitetura)</vt:lpstr>
      <vt:lpstr>Demo</vt:lpstr>
      <vt:lpstr>Testes (Overview)</vt:lpstr>
      <vt:lpstr>Testes Unitários</vt:lpstr>
      <vt:lpstr>Testes de Integração</vt:lpstr>
      <vt:lpstr>Testes de Funcionais</vt:lpstr>
      <vt:lpstr>Testes de Cobertura</vt:lpstr>
      <vt:lpstr>Testes de Específicos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Veloso da Silva</dc:creator>
  <cp:lastModifiedBy>Arthur Veloso da Silva</cp:lastModifiedBy>
  <cp:revision>4</cp:revision>
  <dcterms:created xsi:type="dcterms:W3CDTF">2025-11-11T04:23:45Z</dcterms:created>
  <dcterms:modified xsi:type="dcterms:W3CDTF">2025-11-13T06:42:00Z</dcterms:modified>
</cp:coreProperties>
</file>